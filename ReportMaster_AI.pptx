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8" y="-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331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77A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0"/>
            <a:ext cx="2011680" cy="201168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336176"/>
            <a:ext cx="2926080" cy="347472"/>
          </a:xfrm>
          <a:prstGeom prst="roundRect">
            <a:avLst>
              <a:gd name="adj" fmla="val 31579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78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</a:rPr>
              <a:t>FINANCIAL INTELLIGENCE · RAG-POWERED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500768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ReportMaster AI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13677" y="16209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Reporting Intelligence Hub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chemeClr val="accent5"/>
                </a:solidFill>
              </a:rPr>
              <a:t>AP23110010787-Jetty Subhash</a:t>
            </a:r>
            <a:endParaRPr lang="en-IN" sz="1400" dirty="0">
              <a:solidFill>
                <a:schemeClr val="accent5"/>
              </a:solidFill>
            </a:endParaRPr>
          </a:p>
          <a:p>
            <a:r>
              <a:rPr lang="en-US" sz="1400" dirty="0">
                <a:solidFill>
                  <a:schemeClr val="accent5"/>
                </a:solidFill>
              </a:rPr>
              <a:t>AP23110010733-Munagala Poorna Ravi Teja</a:t>
            </a:r>
            <a:endParaRPr lang="en-IN" sz="1400" dirty="0">
              <a:solidFill>
                <a:schemeClr val="accent5"/>
              </a:solidFill>
            </a:endParaRPr>
          </a:p>
          <a:p>
            <a:r>
              <a:rPr lang="en-US" sz="1400" dirty="0">
                <a:solidFill>
                  <a:schemeClr val="accent5"/>
                </a:solidFill>
              </a:rPr>
              <a:t>AP23110010762-Muvva Sriram</a:t>
            </a:r>
            <a:endParaRPr lang="en-IN" sz="1400" dirty="0">
              <a:solidFill>
                <a:schemeClr val="accent5"/>
              </a:solidFill>
            </a:endParaRPr>
          </a:p>
          <a:p>
            <a:r>
              <a:rPr lang="en-US" sz="1400" dirty="0">
                <a:solidFill>
                  <a:schemeClr val="accent5"/>
                </a:solidFill>
              </a:rPr>
              <a:t>AP23110010759-Putturu Venkata Naga Koushik</a:t>
            </a:r>
            <a:endParaRPr lang="en-IN" sz="1400" dirty="0">
              <a:solidFill>
                <a:schemeClr val="accent5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4360" y="4297680"/>
            <a:ext cx="8046720" cy="18288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3708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FB8C8"/>
                </a:solidFill>
              </a:rPr>
              <a:t>Powered by RAG + Google Gemini 1.5 Flash · FAISS Vector Search · FastAPI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02 / THE CHALLENGE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794760" cy="3337560"/>
          </a:xfrm>
          <a:prstGeom prst="rect">
            <a:avLst/>
          </a:prstGeom>
          <a:solidFill>
            <a:srgbClr val="1B2C3E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379476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63946"/>
                </a:solidFill>
              </a:rPr>
              <a:t>⚠  THE CHALLENGE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teams lose hours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dense financial manuals — ASC 606, ASC 842, SOX — just to find one specific rule.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time, missed deadlines, and costly compliance errors.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4251960" cy="3337560"/>
          </a:xfrm>
          <a:prstGeom prst="rect">
            <a:avLst/>
          </a:prstGeom>
          <a:solidFill>
            <a:srgbClr val="1B2C3E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325880"/>
            <a:ext cx="42519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463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4D8"/>
                </a:solidFill>
              </a:rPr>
              <a:t>✦  THE SOLUTION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92024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ReportMaster AI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semantic retrieval system built specifically for financial reporting.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(Retrieval-Augmented Generation) fuses LLM reasoning with the strict factual accuracy of proprietary accounting documents.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51960" y="26517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03 /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554480"/>
            <a:ext cx="1371600" cy="2011680"/>
          </a:xfrm>
          <a:prstGeom prst="rect">
            <a:avLst/>
          </a:prstGeom>
          <a:solidFill>
            <a:srgbClr val="1B2C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554480"/>
            <a:ext cx="13716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91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22677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INPUT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6517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query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28216" y="2194560"/>
            <a:ext cx="420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39112" y="1554480"/>
            <a:ext cx="1371600" cy="2011680"/>
          </a:xfrm>
          <a:prstGeom prst="rect">
            <a:avLst/>
          </a:prstGeom>
          <a:solidFill>
            <a:srgbClr val="1B2C3E"/>
          </a:solidFill>
          <a:ln w="12700">
            <a:solidFill>
              <a:srgbClr val="5E60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39112" y="1554480"/>
            <a:ext cx="1371600" cy="64008"/>
          </a:xfrm>
          <a:prstGeom prst="rect">
            <a:avLst/>
          </a:prstGeom>
          <a:solidFill>
            <a:srgbClr val="5E60CE"/>
          </a:solidFill>
          <a:ln w="12700">
            <a:solidFill>
              <a:srgbClr val="5E60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9112" y="1691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E6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39112" y="22677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VECTORIZE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39112" y="26517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embeddings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47288" y="2194560"/>
            <a:ext cx="420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758184" y="1554480"/>
            <a:ext cx="1371600" cy="2011680"/>
          </a:xfrm>
          <a:prstGeom prst="rect">
            <a:avLst/>
          </a:prstGeom>
          <a:solidFill>
            <a:srgbClr val="1B2C3E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58184" y="1554480"/>
            <a:ext cx="1371600" cy="64008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58184" y="1691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58184" y="22677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RETRIEVE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58184" y="26517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searches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66360" y="2194560"/>
            <a:ext cx="420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77256" y="1554480"/>
            <a:ext cx="1371600" cy="2011680"/>
          </a:xfrm>
          <a:prstGeom prst="rect">
            <a:avLst/>
          </a:prstGeom>
          <a:solidFill>
            <a:srgbClr val="1B2C3E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77256" y="1554480"/>
            <a:ext cx="13716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77256" y="1691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477256" y="22677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GENERATE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77256" y="26517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synthesizes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85432" y="2194560"/>
            <a:ext cx="420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196328" y="1554480"/>
            <a:ext cx="1371600" cy="2011680"/>
          </a:xfrm>
          <a:prstGeom prst="rect">
            <a:avLst/>
          </a:prstGeom>
          <a:solidFill>
            <a:srgbClr val="1B2C3E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96328" y="1554480"/>
            <a:ext cx="1371600" cy="640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96328" y="1691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196328" y="22677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FFFFF"/>
                </a:solidFill>
              </a:rPr>
              <a:t>OUTPUT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96328" y="26517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response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source citations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1B2C3E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2519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Hallucination-free by design — Gemini answers ONLY from retrieved chunks. If no context matches, it says so.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04 / 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426464"/>
            <a:ext cx="1417320" cy="50292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2646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BACKEND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057400" y="14264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057400" y="16824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High-performance, async RESTful API architecture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84248"/>
            <a:ext cx="8229600" cy="7315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12264"/>
            <a:ext cx="1417320" cy="502920"/>
          </a:xfrm>
          <a:prstGeom prst="rect">
            <a:avLst/>
          </a:prstGeom>
          <a:solidFill>
            <a:srgbClr val="5E60CE">
              <a:alpha val="80000"/>
            </a:srgbClr>
          </a:solidFill>
          <a:ln w="12700">
            <a:solidFill>
              <a:srgbClr val="5E60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1226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AI EMBEDDINGS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57400" y="2112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057400" y="23682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· 384-dimensional text vectors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8229600" cy="7315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98064"/>
            <a:ext cx="1417320" cy="502920"/>
          </a:xfrm>
          <a:prstGeom prst="rect">
            <a:avLst/>
          </a:prstGeom>
          <a:solidFill>
            <a:srgbClr val="7209B7">
              <a:alpha val="80000"/>
            </a:srgbClr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9806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VECTOR DB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57400" y="27980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057400" y="30540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AI Similarity Search · sub-millisecond retrieval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55848"/>
            <a:ext cx="8229600" cy="7315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83864"/>
            <a:ext cx="1417320" cy="502920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8386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LANGUAGE MODEL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057400" y="3483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1.5 Flash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2057400" y="37398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Rapid, grounded generation from retrieved context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41648"/>
            <a:ext cx="8229600" cy="7315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69664"/>
            <a:ext cx="1417320" cy="502920"/>
          </a:xfrm>
          <a:prstGeom prst="rect">
            <a:avLst/>
          </a:prstGeom>
          <a:solidFill>
            <a:srgbClr val="2DC653">
              <a:alpha val="80000"/>
            </a:srgbClr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6966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FRONTEND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057400" y="4169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2057400" y="44256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dark-themed responsive UI for analysts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32320" y="1389888"/>
            <a:ext cx="1554480" cy="3429000"/>
          </a:xfrm>
          <a:prstGeom prst="rect">
            <a:avLst/>
          </a:prstGeom>
          <a:solidFill>
            <a:srgbClr val="1B2C3E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</a:t>
            </a:r>
            <a:endParaRPr lang="en-US" sz="4600" dirty="0"/>
          </a:p>
        </p:txBody>
      </p:sp>
      <p:sp>
        <p:nvSpPr>
          <p:cNvPr id="30" name="Text 28"/>
          <p:cNvSpPr/>
          <p:nvPr/>
        </p:nvSpPr>
        <p:spPr>
          <a:xfrm>
            <a:off x="7132320" y="245059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8FB8C8"/>
                </a:solidFill>
              </a:rPr>
              <a:t>VECTOR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kern="0" spc="100" dirty="0">
                <a:solidFill>
                  <a:srgbClr val="8FB8C8"/>
                </a:solidFill>
              </a:rPr>
              <a:t>DIMENSIONS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0" y="3154680"/>
            <a:ext cx="1188720" cy="9144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3291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</a:rPr>
              <a:t>1.5 Flash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32320" y="3749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8FB8C8"/>
                </a:solidFill>
              </a:rPr>
              <a:t>GEMINI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kern="0" spc="100" dirty="0">
                <a:solidFill>
                  <a:srgbClr val="8FB8C8"/>
                </a:solidFill>
              </a:rPr>
              <a:t>MODEL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05 /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60520" cy="1645920"/>
          </a:xfrm>
          <a:prstGeom prst="rect">
            <a:avLst/>
          </a:prstGeom>
          <a:solidFill>
            <a:srgbClr val="1B2C3E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64008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Semantic Search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5623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intent behind queries — not just keywords. Retrieves contextually relevant financial guidelines even with varied phrasing.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325880"/>
            <a:ext cx="4160520" cy="1645920"/>
          </a:xfrm>
          <a:prstGeom prst="rect">
            <a:avLst/>
          </a:prstGeom>
          <a:solidFill>
            <a:srgbClr val="1B2C3E"/>
          </a:solidFill>
          <a:ln w="12700">
            <a:solidFill>
              <a:srgbClr val="5E60CE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325880"/>
            <a:ext cx="64008" cy="1645920"/>
          </a:xfrm>
          <a:prstGeom prst="rect">
            <a:avLst/>
          </a:prstGeom>
          <a:solidFill>
            <a:srgbClr val="5E60CE"/>
          </a:solidFill>
          <a:ln w="12700">
            <a:solidFill>
              <a:srgbClr val="5E60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6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AI Answers + Citations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85623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fluent natural language responses and strictly cites the exact source document for full auditability and trust.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4160520" cy="1645920"/>
          </a:xfrm>
          <a:prstGeom prst="rect">
            <a:avLst/>
          </a:prstGeom>
          <a:solidFill>
            <a:srgbClr val="1B2C3E"/>
          </a:solidFill>
          <a:ln w="12700">
            <a:solidFill>
              <a:srgbClr val="F4A261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54680"/>
            <a:ext cx="64008" cy="1645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91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Offline Fallback Mode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68503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to function as a smart context search engine even if the external LLM API is unavailable — zero downtime.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154680"/>
            <a:ext cx="4160520" cy="1645920"/>
          </a:xfrm>
          <a:prstGeom prst="rect">
            <a:avLst/>
          </a:prstGeom>
          <a:solidFill>
            <a:srgbClr val="1B2C3E"/>
          </a:solidFill>
          <a:ln w="12700">
            <a:solidFill>
              <a:srgbClr val="2DC653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3154680"/>
            <a:ext cx="64008" cy="16459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291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Interactive UI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368503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dark-themed dashboard designed for financial analysts — intuitive querying, upload management, real-time results.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06 / KNOWLEDGE BASE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Sources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5029200" cy="566928"/>
          </a:xfrm>
          <a:prstGeom prst="rect">
            <a:avLst/>
          </a:prstGeom>
          <a:solidFill>
            <a:srgbClr val="1B2C3E"/>
          </a:solidFill>
          <a:ln w="1270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89888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ASC 606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4813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Recognition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56816"/>
            <a:ext cx="5029200" cy="566928"/>
          </a:xfrm>
          <a:prstGeom prst="rect">
            <a:avLst/>
          </a:prstGeom>
          <a:solidFill>
            <a:srgbClr val="1B2C3E"/>
          </a:solidFill>
          <a:ln w="12700">
            <a:solidFill>
              <a:srgbClr val="5E60CE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56816"/>
            <a:ext cx="54864" cy="566928"/>
          </a:xfrm>
          <a:prstGeom prst="rect">
            <a:avLst/>
          </a:prstGeom>
          <a:solidFill>
            <a:srgbClr val="5E60CE"/>
          </a:solidFill>
          <a:ln w="12700">
            <a:solidFill>
              <a:srgbClr val="5E60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29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60CE"/>
                </a:solidFill>
              </a:rPr>
              <a:t>ASC 842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20482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Accounting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5029200" cy="566928"/>
          </a:xfrm>
          <a:prstGeom prst="rect">
            <a:avLst/>
          </a:prstGeom>
          <a:solidFill>
            <a:srgbClr val="1B2C3E"/>
          </a:solidFill>
          <a:ln w="12700">
            <a:solidFill>
              <a:srgbClr val="7209B7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23744"/>
            <a:ext cx="54864" cy="566928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968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209B7"/>
                </a:solidFill>
              </a:rPr>
              <a:t>ASC 740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26151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Reporting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90672"/>
            <a:ext cx="5029200" cy="566928"/>
          </a:xfrm>
          <a:prstGeom prst="rect">
            <a:avLst/>
          </a:prstGeom>
          <a:solidFill>
            <a:srgbClr val="1B2C3E"/>
          </a:solidFill>
          <a:ln w="12700">
            <a:solidFill>
              <a:srgbClr val="F4A261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90672"/>
            <a:ext cx="54864" cy="5669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638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SOX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91640" y="31821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Controls &amp; Compliance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5029200" cy="566928"/>
          </a:xfrm>
          <a:prstGeom prst="rect">
            <a:avLst/>
          </a:prstGeom>
          <a:solidFill>
            <a:srgbClr val="1B2C3E"/>
          </a:solidFill>
          <a:ln w="12700">
            <a:solidFill>
              <a:srgbClr val="2DC65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57600"/>
            <a:ext cx="54864" cy="56692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30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C653"/>
                </a:solidFill>
              </a:rPr>
              <a:t>FSP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91640" y="3749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 Preparation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15000" y="1389888"/>
            <a:ext cx="2971800" cy="2898648"/>
          </a:xfrm>
          <a:prstGeom prst="rect">
            <a:avLst/>
          </a:prstGeom>
          <a:solidFill>
            <a:srgbClr val="1B2C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0" y="1389888"/>
            <a:ext cx="29718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150876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B4D8"/>
                </a:solidFill>
              </a:rPr>
              <a:t>DYNAMIC MANAGEMENT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187452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Upload new manuals via UI or API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06440" y="237744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Remove outdated documents instantly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06440" y="288036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 re-indexing after any change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06440" y="338328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manual configuration needed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1B2C3E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2519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grows with your organization — any manual, any standard, any time.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07 / INTERFACE &amp; API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API Design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3474720"/>
          </a:xfrm>
          <a:prstGeom prst="rect">
            <a:avLst/>
          </a:prstGeom>
          <a:solidFill>
            <a:srgbClr val="1B2C3E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</a:rPr>
              <a:t>WEB DASHBOARD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Dark-themed responsive hub for professional financial analysts.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3591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Instant query interface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8163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Source citation viewer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2735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Document upload manager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7307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status indicators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023360" cy="3474720"/>
          </a:xfrm>
          <a:prstGeom prst="rect">
            <a:avLst/>
          </a:prstGeom>
          <a:solidFill>
            <a:srgbClr val="1B2C3E"/>
          </a:solidFill>
          <a:ln w="12700">
            <a:solidFill>
              <a:srgbClr val="5E60CE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630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B8FFF"/>
                </a:solidFill>
              </a:rPr>
              <a:t>REST API ENDPOINTS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874520"/>
            <a:ext cx="356616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5E60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92024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</a:t>
            </a:r>
            <a:r>
              <a:rPr lang="en-US" sz="12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/api/query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64608" y="218541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question → receive AI answer + citations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514600"/>
            <a:ext cx="356616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5E60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256032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</a:t>
            </a:r>
            <a:r>
              <a:rPr lang="en-US" sz="12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/api/documents/upload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64608" y="2825496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manuals to the vector store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32004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DC653"/>
                </a:solidFill>
              </a:rPr>
              <a:t>DEVELOPER READY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35204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docs at  </a:t>
            </a: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(Swagger) and  </a:t>
            </a: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/redoc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08 / SECURITY &amp; OPS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Reliability &amp; Deployment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3474720"/>
          </a:xfrm>
          <a:prstGeom prst="rect">
            <a:avLst/>
          </a:prstGeom>
          <a:solidFill>
            <a:srgbClr val="1B2C3E"/>
          </a:solidFill>
          <a:ln w="12700">
            <a:solidFill>
              <a:srgbClr val="E63946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265176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21762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is explicitly prompted to respond "I cannot answer this based on the provided documents" when retrieved context is insufficient. No guessing — ever.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651760" cy="3474720"/>
          </a:xfrm>
          <a:prstGeom prst="rect">
            <a:avLst/>
          </a:prstGeom>
          <a:solidFill>
            <a:srgbClr val="1B2C3E"/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25880"/>
            <a:ext cx="2651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29000" y="21762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&amp;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92608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keys and environment variables strictly managed outside source code using .env files. No secrets committed to the repository.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651760" cy="3474720"/>
          </a:xfrm>
          <a:prstGeom prst="rect">
            <a:avLst/>
          </a:prstGeom>
          <a:solidFill>
            <a:srgbClr val="1B2C3E"/>
          </a:solidFill>
          <a:ln w="12700">
            <a:solidFill>
              <a:srgbClr val="F4A261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325880"/>
            <a:ext cx="265176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508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🐳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63640" y="21762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92608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Dockerized via docker-compose.yml. One-command deployment of backend, frontend, and vector database across any environment.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AE9F5"/>
                </a:solidFill>
              </a:rPr>
              <a:t>09 / 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212080" cy="1554480"/>
          </a:xfrm>
          <a:prstGeom prst="rect">
            <a:avLst/>
          </a:prstGeom>
          <a:solidFill>
            <a:srgbClr val="1B2C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190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</a:rPr>
              <a:t>IMPACT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02996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ReportMaster AI drastically reduces research time, minimizes human error, and acts as a tireless, always-accurate assistant for compliance and reporting teams.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5212080" cy="1508760"/>
          </a:xfrm>
          <a:prstGeom prst="rect">
            <a:avLst/>
          </a:prstGeom>
          <a:solidFill>
            <a:srgbClr val="1B2C3E"/>
          </a:solidFill>
          <a:ln w="12700">
            <a:solidFill>
              <a:srgbClr val="5E60CE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4107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B8FFF"/>
                </a:solidFill>
              </a:rPr>
              <a:t>FUTURE ENHANCEMENTS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374904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Support for PDF and Word document uploads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411480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Enterprise workflow integration (SharePoint, Teams)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448056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User authentication &amp; role-based access control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97880" y="1600200"/>
            <a:ext cx="2788920" cy="32004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82880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0" dirty="0"/>
          </a:p>
        </p:txBody>
      </p:sp>
      <p:sp>
        <p:nvSpPr>
          <p:cNvPr id="15" name="Text 13"/>
          <p:cNvSpPr/>
          <p:nvPr/>
        </p:nvSpPr>
        <p:spPr>
          <a:xfrm>
            <a:off x="5897880" y="31089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897880" y="3611880"/>
            <a:ext cx="2788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how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ReportMaster AI can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your workflow.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C3E"/>
          </a:solidFill>
          <a:ln w="12700">
            <a:solidFill>
              <a:srgbClr val="1B2C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50" dirty="0">
                <a:solidFill>
                  <a:srgbClr val="8FB8C8"/>
                </a:solidFill>
              </a:rPr>
              <a:t>ReportMaster AI  ·  Financial Reporting Intelligence Hub  ·  Powered by RAG + Gemini 1.5 Flash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685</Words>
  <Application>Microsoft Office PowerPoint</Application>
  <PresentationFormat>On-screen Show (16:9)</PresentationFormat>
  <Paragraphs>152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ReportMaster AI</dc:title>
  <dc:subject>PptxGenJS Presentation</dc:subject>
  <dc:creator>PptxGenJS</dc:creator>
  <cp:lastModifiedBy>Subhash Jetty</cp:lastModifiedBy>
  <cp:revision>2</cp:revision>
  <dcterms:created xsi:type="dcterms:W3CDTF">2026-04-27T09:50:05Z</dcterms:created>
  <dcterms:modified xsi:type="dcterms:W3CDTF">2026-04-28T13:53:30Z</dcterms:modified>
</cp:coreProperties>
</file>